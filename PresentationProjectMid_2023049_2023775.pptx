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352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45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731520"/>
            <a:ext cx="2286000" cy="2286000"/>
          </a:xfrm>
          <a:prstGeom prst="ellipse">
            <a:avLst/>
          </a:prstGeom>
          <a:solidFill>
            <a:srgbClr val="0F3460">
              <a:alpha val="60000"/>
            </a:srgbClr>
          </a:solidFill>
          <a:ln w="381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69480" y="1051560"/>
            <a:ext cx="1645920" cy="1645920"/>
          </a:xfrm>
          <a:prstGeom prst="ellipse">
            <a:avLst/>
          </a:prstGeom>
          <a:solidFill>
            <a:srgbClr val="E94560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</a:rPr>
              <a:t>EXTENSIVE EDA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Engine Health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2C8"/>
                </a:solidFill>
              </a:rPr>
              <a:t>Automotive Vehicles Engine Health Dataset  •  Kaggle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816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Records:  </a:t>
            </a:r>
            <a:r>
              <a:rPr lang="en-US" sz="1200" dirty="0">
                <a:solidFill>
                  <a:srgbClr val="A8B2C8"/>
                </a:solidFill>
              </a:rPr>
              <a:t>19,535 engine sensor readings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1638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Features:  </a:t>
            </a:r>
            <a:r>
              <a:rPr lang="en-US" sz="1200" dirty="0">
                <a:solidFill>
                  <a:srgbClr val="A8B2C8"/>
                </a:solidFill>
              </a:rPr>
              <a:t>6 mechanical sensor variables + condition label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Target:  </a:t>
            </a:r>
            <a:r>
              <a:rPr lang="en-US" sz="1200" dirty="0">
                <a:solidFill>
                  <a:srgbClr val="A8B2C8"/>
                </a:solidFill>
              </a:rPr>
              <a:t>Engine Condition  (Good 63.1%  /  Faulty 36.9%)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858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Theme:  </a:t>
            </a:r>
            <a:r>
              <a:rPr lang="en-US" sz="1200" dirty="0">
                <a:solidFill>
                  <a:srgbClr val="A8B2C8"/>
                </a:solidFill>
              </a:rPr>
              <a:t>Real-time engine fault detection via sensor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</a:rPr>
              <a:t>Project Mid — EDA Submission  |  May 2026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432CE-E9D9-4794-2013-72EF61900DF4}"/>
              </a:ext>
            </a:extLst>
          </p:cNvPr>
          <p:cNvSpPr txBox="1"/>
          <p:nvPr/>
        </p:nvSpPr>
        <p:spPr>
          <a:xfrm>
            <a:off x="5824054" y="4408854"/>
            <a:ext cx="4628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</a:rPr>
              <a:t>Zain Wajid	2023775</a:t>
            </a:r>
            <a:br>
              <a:rPr lang="en-US" sz="1800" b="1" dirty="0">
                <a:solidFill>
                  <a:srgbClr val="E94560"/>
                </a:solidFill>
              </a:rPr>
            </a:br>
            <a:r>
              <a:rPr lang="en-US" sz="1800" b="1" dirty="0">
                <a:solidFill>
                  <a:srgbClr val="E94560"/>
                </a:solidFill>
              </a:rPr>
              <a:t>Abdullah Yasin	2023049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QUESTIONS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73152" cy="126187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8321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4560"/>
                </a:solidFill>
              </a:rPr>
              <a:t>Q1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Do Engine RPM and Fuel Pressure significantly differ between good and faulty engines?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</a:rPr>
              <a:t>Bosch Automotive Handbook documents RPM instability and fuel pressure irregularities as key precursors to valve train and injector failures. Motivated by a family vehicle's intermittent stalling before complete engine failure — later diagnosed as a fuel pressure regulator fault.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73152" cy="12618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460"/>
                </a:solidFill>
              </a:rPr>
              <a:t>Q2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2258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Do lubricant oil pressure and coolant pressure serve as reliable indicators of engine fault?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</a:rPr>
              <a:t>SAE Paper 2019-01-0232 shows oil pressure loss causes engine seizure within seconds. Motivated by engineering coursework on thermodynamic systems and Haynes/Ford repair manuals documenting these as the two most common catastrophic failure precursors.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73152" cy="1261872"/>
          </a:xfrm>
          <a:prstGeom prst="rect">
            <a:avLst/>
          </a:prstGeom>
          <a:solidFill>
            <a:srgbClr val="53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6667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3483"/>
                </a:solidFill>
              </a:rPr>
              <a:t>Q3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117"/>
                </a:solidFill>
              </a:rPr>
              <a:t>How do lubricant oil temperature and coolant temperature interact to predict engine failure?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</a:rPr>
              <a:t>ASME research demonstrates accelerated bearing wear above 95 C sustained coolant temperature. Motivated by the understanding that compound thermal stress — both temperatures elevated simultaneously — represents the primary mechanical failure pathway.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 — DATASET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55448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19,535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2C8"/>
                </a:solidFill>
              </a:rPr>
              <a:t>Total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93392" y="749808"/>
            <a:ext cx="155448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93392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93392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2C8"/>
                </a:solidFill>
              </a:rPr>
              <a:t>Sensor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12464" y="749808"/>
            <a:ext cx="155448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12464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63.1%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12464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2C8"/>
                </a:solidFill>
              </a:rPr>
              <a:t>Good Engines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31536" y="749808"/>
            <a:ext cx="155448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31536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36.9%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31536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2C8"/>
                </a:solidFill>
              </a:rPr>
              <a:t>Faulty Engines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50608" y="749808"/>
            <a:ext cx="1554480" cy="86868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50608" y="1216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2C8"/>
                </a:solidFill>
              </a:rPr>
              <a:t>Missing Values</a:t>
            </a:r>
            <a:endParaRPr lang="en-US" sz="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19072"/>
            <a:ext cx="8686800" cy="31089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2C8"/>
                </a:solidFill>
              </a:rPr>
              <a:t>Six sensor distributions: RPM is right-skewed (wide load range), temperatures cluster near norms with extreme-value outliers. No missing values — completely clean dataset.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 — CORRELATION &amp; CLASS BALANCE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4572000" cy="3429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749808"/>
            <a:ext cx="3977640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83480" y="3355848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983480" y="3355848"/>
            <a:ext cx="64008" cy="146304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093208" y="3392424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Key observations:
</a:t>
            </a:r>
            <a:r>
              <a:rPr lang="en-US" sz="1000" dirty="0">
                <a:solidFill>
                  <a:srgbClr val="333344"/>
                </a:solidFill>
              </a:rPr>
              <a:t>Oil temp &amp; coolant temp moderately correlated (r~0.45) — shared thermal block. RPM weakly linked to pressures. No multicollinearity — each sensor adds independent diagnostic value. 63/37 class balance is realistic and workable.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57200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77"/>
                </a:solidFill>
              </a:rPr>
              <a:t>Gut check: expected positive correlation between temperature variables confirmed. Pressure variables are independent — consistent with physically separate hydraulic circuits.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Q1 — RPM &amp; FUEL PRESSURE AS FAULT INDICATORS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26060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438144"/>
            <a:ext cx="5806440" cy="1508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26480" y="3438144"/>
            <a:ext cx="2834640" cy="15087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217920" y="3493008"/>
            <a:ext cx="26517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A62E"/>
                </a:solidFill>
              </a:rPr>
              <a:t>Findings:
</a:t>
            </a:r>
            <a:r>
              <a:rPr lang="en-US" sz="1000" dirty="0">
                <a:solidFill>
                  <a:srgbClr val="A8B2C8"/>
                </a:solidFill>
              </a:rPr>
              <a:t>Faulty mean RPM: </a:t>
            </a:r>
            <a:r>
              <a:rPr lang="en-US" sz="1000" b="1" dirty="0">
                <a:solidFill>
                  <a:srgbClr val="FFFFFF"/>
                </a:solidFill>
              </a:rPr>
              <a:t>885 vs 736
</a:t>
            </a:r>
            <a:r>
              <a:rPr lang="en-US" sz="1000" dirty="0">
                <a:solidFill>
                  <a:srgbClr val="A8B2C8"/>
                </a:solidFill>
              </a:rPr>
              <a:t>RPM &gt;1,400: </a:t>
            </a:r>
            <a:r>
              <a:rPr lang="en-US" sz="1000" b="1" dirty="0">
                <a:solidFill>
                  <a:srgbClr val="E94560"/>
                </a:solidFill>
              </a:rPr>
              <a:t>highest fault rate
</a:t>
            </a:r>
            <a:r>
              <a:rPr lang="en-US" sz="1000" dirty="0">
                <a:solidFill>
                  <a:srgbClr val="A8B2C8"/>
                </a:solidFill>
              </a:rPr>
              <a:t>Fuel pressure extremes (both low AND high) are fault-associated modes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3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Q2 — OIL &amp; COOLANT PRESSURE AS FAULT INDICATORS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2377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218688"/>
            <a:ext cx="6492240" cy="1737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12280" y="3218688"/>
            <a:ext cx="2148840" cy="1737360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76288" y="3273552"/>
            <a:ext cx="20116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A62E"/>
                </a:solidFill>
              </a:rPr>
              <a:t>Key insight:
</a:t>
            </a:r>
            <a:r>
              <a:rPr lang="en-US" sz="950" b="1" dirty="0">
                <a:solidFill>
                  <a:srgbClr val="FFFFFF"/>
                </a:solidFill>
              </a:rPr>
              <a:t>Pressure INSTABILITY
</a:t>
            </a:r>
            <a:r>
              <a:rPr lang="en-US" sz="950" dirty="0">
                <a:solidFill>
                  <a:srgbClr val="A8B2C8"/>
                </a:solidFill>
              </a:rPr>
              <a:t>not a threshold — is the fault signature.
Multi-modal distributions reveal multiple concurrent failure modes (pump, leak, blockage).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Q3 — THERMAL INTERACTION AS FAILURE PREDICTOR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49808"/>
            <a:ext cx="8778240" cy="245059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273552"/>
            <a:ext cx="8778240" cy="1691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B2C8"/>
                </a:solidFill>
              </a:rPr>
              <a:t>The interaction heatmap is the key Q3 finding: high oil temp AND high coolant temp simultaneously produce the worst fault rates — compound thermal stress is the primary failure pathway.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SENSOR MEAN COMPARISON — GOOD vs FAULTY ENGINES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77240"/>
            <a:ext cx="841248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401568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3401568"/>
            <a:ext cx="64008" cy="8229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</a:rPr>
              <a:t>Strongest fault signal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36758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</a:rPr>
              <a:t>Engine RPM  (+148.7 RPM difference)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27832" y="3401568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27832" y="3401568"/>
            <a:ext cx="64008" cy="822960"/>
          </a:xfrm>
          <a:prstGeom prst="rect">
            <a:avLst/>
          </a:prstGeom>
          <a:solidFill>
            <a:srgbClr val="15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64992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</a:rPr>
              <a:t>Most stable across classes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64992" y="36758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Temperatures (small mean delta)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9904" y="3401568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89904" y="3401568"/>
            <a:ext cx="64008" cy="8229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27064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</a:rPr>
              <a:t>Diagnostic signature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27064" y="36758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</a:rPr>
              <a:t>Pressure instability (multi-modal)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66"/>
                </a:solidFill>
              </a:rPr>
              <a:t>Note: Mean temperature differences are small because fault temperatures include both extremes (hot AND cold spikes), which partially cancel when averaged.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SUMMARY &amp; KEY CONCLUSIONS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26187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832104"/>
            <a:ext cx="594360" cy="438912"/>
          </a:xfrm>
          <a:prstGeom prst="rect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3210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8778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RPM &amp; Fuel Pressure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24358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</a:rPr>
              <a:t>Faulty engines run at higher mean RPM (885 vs 736). RPM above 1,400 marks the highest fault concentration. Fuel pressure at both extremes signals distinct failure modes — starvation and regulator failure.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73152" cy="1261872"/>
          </a:xfrm>
          <a:prstGeom prst="rect">
            <a:avLst/>
          </a:prstGeom>
          <a:solidFill>
            <a:srgbClr val="53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594360" cy="438912"/>
          </a:xfrm>
          <a:prstGeom prst="rect">
            <a:avLst/>
          </a:prstGeom>
          <a:solidFill>
            <a:srgbClr val="53348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2219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22677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Oil &amp; Coolant Pressure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3347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</a:rPr>
              <a:t>Pressure instability — not a single low-pressure threshold — is the fault signature. Multi-modal distributions in faulty engines reveal multiple concurrent failure mechanisms: pump failure, leaks, and blockages.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0F34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584448"/>
            <a:ext cx="73152" cy="1261872"/>
          </a:xfrm>
          <a:prstGeom prst="rect">
            <a:avLst/>
          </a:prstGeom>
          <a:solidFill>
            <a:srgbClr val="157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3611880"/>
            <a:ext cx="594360" cy="438912"/>
          </a:xfrm>
          <a:prstGeom prst="rect">
            <a:avLst/>
          </a:prstGeom>
          <a:solidFill>
            <a:srgbClr val="15714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6118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Oil &amp; Coolant Temperature Interaction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233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</a:rPr>
              <a:t>Extreme temperatures elevate fault rates individually, but the compound effect of high oil temperature AND high coolant temperature simultaneously produces the worst outcomes — dual thermal stress is the primary mechanical failure pathway confirmed by the interaction heatmap.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2C8"/>
                </a:solidFill>
              </a:rPr>
              <a:t>Dataset: Automotive Vehicles Engine Health Dataset (Kaggle, Parv Modi)  •  n=19,535  •  Project Mid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692</Words>
  <Application>Microsoft Macintosh PowerPoint</Application>
  <PresentationFormat>On-screen Show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 Health EDA — Project Mid</dc:title>
  <dc:subject>PptxGenJS Presentation</dc:subject>
  <dc:creator>PptxGenJS</dc:creator>
  <cp:lastModifiedBy>u2023775</cp:lastModifiedBy>
  <cp:revision>2</cp:revision>
  <dcterms:created xsi:type="dcterms:W3CDTF">2026-04-05T09:13:29Z</dcterms:created>
  <dcterms:modified xsi:type="dcterms:W3CDTF">2026-04-05T09:28:54Z</dcterms:modified>
</cp:coreProperties>
</file>